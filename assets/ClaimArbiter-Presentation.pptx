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C280F1D-FE94-48C5-7CDE-FA2BA91CAD5C}"/>
              </a:ext>
            </a:extLst>
          </p:cNvPr>
          <p:cNvGrpSpPr/>
          <p:nvPr/>
        </p:nvGrpSpPr>
        <p:grpSpPr>
          <a:xfrm>
            <a:off x="3347661" y="1997964"/>
            <a:ext cx="5493630" cy="1005840"/>
            <a:chOff x="4224528" y="1975104"/>
            <a:chExt cx="7205472" cy="1005840"/>
          </a:xfrm>
        </p:grpSpPr>
        <p:pic>
          <p:nvPicPr>
            <p:cNvPr id="3" name="Picture 2" descr="logo-mar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24528" y="1993392"/>
              <a:ext cx="914400" cy="91440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5212080" y="1975104"/>
              <a:ext cx="6217920" cy="1005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6000" b="1" i="0" dirty="0">
                  <a:solidFill>
                    <a:srgbClr val="F2F3F6"/>
                  </a:solidFill>
                  <a:latin typeface="Arial"/>
                </a:rPr>
                <a:t>Claim</a:t>
              </a:r>
              <a:r>
                <a:rPr sz="6000" b="1" i="0" dirty="0">
                  <a:solidFill>
                    <a:srgbClr val="E8B54A"/>
                  </a:solidFill>
                  <a:latin typeface="Arial"/>
                </a:rPr>
                <a:t>Arbiter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5641848" y="3346704"/>
            <a:ext cx="914400" cy="54864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611880"/>
            <a:ext cx="8531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Arial"/>
              </a:rPr>
              <a:t>One claim in, the right specialist recruited, a signed verdict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60520"/>
            <a:ext cx="8531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>
                <a:solidFill>
                  <a:srgbClr val="8B909C"/>
                </a:solidFill>
                <a:latin typeface="Arial"/>
              </a:rPr>
              <a:t>Cross-org, cross-framework claim adjudication on Band.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272784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666B78"/>
                </a:solidFill>
                <a:latin typeface="Arial"/>
              </a:rPr>
              <a:t>powered by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Band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AI/ML API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Featherless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4983" y="347472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2F3F6"/>
                </a:solidFill>
                <a:latin typeface="Arial"/>
              </a:rPr>
              <a:t>Claim</a:t>
            </a:r>
            <a:r>
              <a:rPr sz="1600" b="1" i="0">
                <a:solidFill>
                  <a:srgbClr val="E8B54A"/>
                </a:solidFill>
                <a:latin typeface="Arial"/>
              </a:rPr>
              <a:t>Arbiter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40">
                <a:solidFill>
                  <a:srgbClr val="E8B54A"/>
                </a:solidFill>
                <a:latin typeface="Arial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2F3F6"/>
                </a:solidFill>
                <a:latin typeface="Arial"/>
              </a:rPr>
              <a:t>Insurers do not employ the specialists they depend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9572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8B909C"/>
                </a:solidFill>
                <a:latin typeface="Arial"/>
              </a:rPr>
              <a:t>Every property, injury, or legal claim waits on an outside expert reached by email.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3602736" cy="2468880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108960"/>
            <a:ext cx="54864" cy="246888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5528" y="3419856"/>
            <a:ext cx="694944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E8B54A"/>
                </a:solidFill>
                <a:latin typeface="Arial"/>
              </a:rPr>
              <a:t>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877056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2F3F6"/>
                </a:solidFill>
                <a:latin typeface="Arial"/>
              </a:rPr>
              <a:t>Manual handoffs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370831"/>
            <a:ext cx="30358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B7BBC6"/>
                </a:solidFill>
                <a:latin typeface="Arial"/>
              </a:rPr>
              <a:t>Claims sit in a queue, then get emailed to an outside assessor with no shared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3108960"/>
            <a:ext cx="3602736" cy="2468880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52544" y="3108960"/>
            <a:ext cx="54864" cy="246888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45152" y="3419856"/>
            <a:ext cx="779068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E8B54A"/>
                </a:solidFill>
                <a:latin typeface="Arial"/>
              </a:rPr>
              <a:t>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877056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2F3F6"/>
                </a:solidFill>
                <a:latin typeface="Arial"/>
              </a:rPr>
              <a:t>Slow and inconsistent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4370831"/>
            <a:ext cx="30358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B7BBC6"/>
                </a:solidFill>
                <a:latin typeface="Arial"/>
              </a:rPr>
              <a:t>Decisions return days later. Different reviewers reach different calls on similar claims.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8" y="3108960"/>
            <a:ext cx="3602736" cy="2468880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02168" y="3108960"/>
            <a:ext cx="54864" cy="246888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94776" y="3419856"/>
            <a:ext cx="610819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E8B54A"/>
                </a:solidFill>
                <a:latin typeface="Arial"/>
              </a:rPr>
              <a:t>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4776" y="3877056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2F3F6"/>
                </a:solidFill>
                <a:latin typeface="Arial"/>
              </a:rPr>
              <a:t>Weak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4370831"/>
            <a:ext cx="30358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B7BBC6"/>
                </a:solidFill>
                <a:latin typeface="Arial"/>
              </a:rPr>
              <a:t>Who decided what, and why, is reconstructed after the fact. Disputes and compliance suffer.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6272784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666B78"/>
                </a:solidFill>
                <a:latin typeface="Arial"/>
              </a:rPr>
              <a:t>powered by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Band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AI/ML API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Featherless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4983" y="347472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2F3F6"/>
                </a:solidFill>
                <a:latin typeface="Arial"/>
              </a:rPr>
              <a:t>Claim</a:t>
            </a:r>
            <a:r>
              <a:rPr sz="1600" b="1" i="0">
                <a:solidFill>
                  <a:srgbClr val="E8B54A"/>
                </a:solidFill>
                <a:latin typeface="Arial"/>
              </a:rPr>
              <a:t>Arbiter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40">
                <a:solidFill>
                  <a:srgbClr val="E8B54A"/>
                </a:solidFill>
                <a:latin typeface="Arial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2F3F6"/>
                </a:solidFill>
                <a:latin typeface="Arial"/>
              </a:rPr>
              <a:t>One claim </a:t>
            </a:r>
            <a:r>
              <a:rPr sz="3300" b="1" i="0">
                <a:solidFill>
                  <a:srgbClr val="E8B54A"/>
                </a:solidFill>
                <a:latin typeface="Arial"/>
              </a:rPr>
              <a:t>→</a:t>
            </a:r>
            <a:r>
              <a:rPr sz="3300" b="1" i="0">
                <a:solidFill>
                  <a:srgbClr val="F2F3F6"/>
                </a:solidFill>
                <a:latin typeface="Arial"/>
              </a:rPr>
              <a:t> the right specialist, a signed verdict.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97480"/>
            <a:ext cx="2468880" cy="841248"/>
          </a:xfrm>
          <a:prstGeom prst="roundRect">
            <a:avLst>
              <a:gd name="adj" fmla="val 6000"/>
            </a:avLst>
          </a:prstGeom>
          <a:solidFill>
            <a:srgbClr val="1B1F2B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2F3F6"/>
                </a:solidFill>
                <a:latin typeface="Arial"/>
              </a:rPr>
              <a:t>Claim filed</a:t>
            </a:r>
          </a:p>
          <a:p>
            <a:pPr algn="ctr"/>
            <a:r>
              <a:rPr sz="1050" b="0" i="0">
                <a:solidFill>
                  <a:srgbClr val="8B909C"/>
                </a:solidFill>
                <a:latin typeface="Arial"/>
              </a:rPr>
              <a:t>property · medical · legal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2999232"/>
            <a:ext cx="50292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86200" y="2697480"/>
            <a:ext cx="4251960" cy="841248"/>
          </a:xfrm>
          <a:prstGeom prst="roundRect">
            <a:avLst>
              <a:gd name="adj" fmla="val 6000"/>
            </a:avLst>
          </a:prstGeom>
          <a:solidFill>
            <a:srgbClr val="1B1F2B"/>
          </a:solidFill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E8B54A"/>
                </a:solidFill>
                <a:latin typeface="Arial"/>
              </a:rPr>
              <a:t>Agents collaborate on Band</a:t>
            </a:r>
          </a:p>
          <a:p>
            <a:pPr algn="ctr"/>
            <a:r>
              <a:rPr sz="1050" b="0" i="0">
                <a:solidFill>
                  <a:srgbClr val="B7BBC6"/>
                </a:solidFill>
                <a:latin typeface="Arial"/>
              </a:rPr>
              <a:t>intake · evidence · coordinator · recruit · relay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321040" y="2999232"/>
            <a:ext cx="50292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52560" y="2697480"/>
            <a:ext cx="2633472" cy="841248"/>
          </a:xfrm>
          <a:prstGeom prst="roundRect">
            <a:avLst>
              <a:gd name="adj" fmla="val 6000"/>
            </a:avLst>
          </a:prstGeom>
          <a:solidFill>
            <a:srgbClr val="1B1F2B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4CCB8D"/>
                </a:solidFill>
                <a:latin typeface="Arial"/>
              </a:rPr>
              <a:t>Signed verdict</a:t>
            </a:r>
          </a:p>
          <a:p>
            <a:pPr algn="ctr"/>
            <a:r>
              <a:rPr sz="1050" b="0" i="0">
                <a:solidFill>
                  <a:srgbClr val="8B909C"/>
                </a:solidFill>
                <a:latin typeface="Arial"/>
              </a:rPr>
              <a:t>human approves · audit sealed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8620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8" y="4197096"/>
            <a:ext cx="310896" cy="45720"/>
          </a:xfrm>
          <a:prstGeom prst="rect">
            <a:avLst/>
          </a:prstGeom>
          <a:solidFill>
            <a:srgbClr val="D4A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4306824"/>
            <a:ext cx="947318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4A7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D4A773"/>
                </a:solidFill>
                <a:latin typeface="Arial"/>
              </a:rPr>
              <a:t>PROPERTY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7274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2F3F6"/>
                </a:solidFill>
                <a:latin typeface="Arial"/>
              </a:rPr>
              <a:t>Property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093208"/>
            <a:ext cx="3017520" cy="380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150" dirty="0">
                <a:solidFill>
                  <a:srgbClr val="B7BBC6"/>
                </a:solidFill>
                <a:latin typeface="Arial"/>
              </a:rPr>
              <a:t>R</a:t>
            </a:r>
            <a:r>
              <a:rPr lang="en-US" sz="1150" b="0" i="0" dirty="0">
                <a:solidFill>
                  <a:srgbClr val="B7BBC6"/>
                </a:solidFill>
                <a:latin typeface="Arial"/>
              </a:rPr>
              <a:t>ental and </a:t>
            </a:r>
            <a:r>
              <a:rPr sz="1150" b="0" i="0" dirty="0">
                <a:solidFill>
                  <a:srgbClr val="B7BBC6"/>
                </a:solidFill>
                <a:latin typeface="Arial"/>
              </a:rPr>
              <a:t>structural damage against the covered peril.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388620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45152" y="4197096"/>
            <a:ext cx="310896" cy="45720"/>
          </a:xfrm>
          <a:prstGeom prst="rect">
            <a:avLst/>
          </a:prstGeom>
          <a:solidFill>
            <a:srgbClr val="D4A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45152" y="4306824"/>
            <a:ext cx="863193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4A7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D4A773"/>
                </a:solidFill>
                <a:latin typeface="Arial"/>
              </a:rPr>
              <a:t>MEDICAL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7274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2F3F6"/>
                </a:solidFill>
                <a:latin typeface="Arial"/>
              </a:rPr>
              <a:t>Medical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509320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7BBC6"/>
                </a:solidFill>
                <a:latin typeface="Arial"/>
              </a:rPr>
              <a:t>Checks billed treatment against the reported injury.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02168" y="388620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94776" y="4197096"/>
            <a:ext cx="310896" cy="45720"/>
          </a:xfrm>
          <a:prstGeom prst="rect">
            <a:avLst/>
          </a:prstGeom>
          <a:solidFill>
            <a:srgbClr val="D4A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94776" y="4306824"/>
            <a:ext cx="694944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4A7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D4A773"/>
                </a:solidFill>
                <a:latin typeface="Arial"/>
              </a:rPr>
              <a:t>LEGAL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4776" y="47274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2F3F6"/>
                </a:solidFill>
                <a:latin typeface="Arial"/>
              </a:rPr>
              <a:t>Legal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4776" y="509320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7BBC6"/>
                </a:solidFill>
                <a:latin typeface="Arial"/>
              </a:rPr>
              <a:t>Reviews lawyer fees and proceedings, and writes the deny rationale.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6272784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666B78"/>
                </a:solidFill>
                <a:latin typeface="Arial"/>
              </a:rPr>
              <a:t>powered by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Band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AI/ML API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Featherless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4983" y="347472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2F3F6"/>
                </a:solidFill>
                <a:latin typeface="Arial"/>
              </a:rPr>
              <a:t>Claim</a:t>
            </a:r>
            <a:r>
              <a:rPr sz="1600" b="1" i="0">
                <a:solidFill>
                  <a:srgbClr val="E8B54A"/>
                </a:solidFill>
                <a:latin typeface="Arial"/>
              </a:rPr>
              <a:t>Arbiter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40">
                <a:solidFill>
                  <a:srgbClr val="E8B54A"/>
                </a:solidFill>
                <a:latin typeface="Arial"/>
              </a:rPr>
              <a:t>HOW IT IS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2F3F6"/>
                </a:solidFill>
                <a:latin typeface="Arial"/>
              </a:rPr>
              <a:t>Genuinely cross-framework, genuinely cross-org.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97480"/>
            <a:ext cx="3602736" cy="2286000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5528" y="2990088"/>
            <a:ext cx="1115568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E8B54A"/>
                </a:solidFill>
                <a:latin typeface="Arial"/>
              </a:rPr>
              <a:t>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4472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2F3F6"/>
                </a:solidFill>
                <a:latin typeface="Arial"/>
              </a:rPr>
              <a:t>Three, one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941064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B7BBC6"/>
                </a:solidFill>
                <a:latin typeface="Arial"/>
              </a:rPr>
              <a:t>Pydantic AI, LangGraph, and CrewAI agents collaborate through Band adapters.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697480"/>
            <a:ext cx="3602736" cy="2286000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45152" y="2990088"/>
            <a:ext cx="779068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E8B54A"/>
                </a:solidFill>
                <a:latin typeface="Arial"/>
              </a:rPr>
              <a:t>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4472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2F3F6"/>
                </a:solidFill>
                <a:latin typeface="Arial"/>
              </a:rPr>
              <a:t>Frontier + 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941064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B7BBC6"/>
                </a:solidFill>
                <a:latin typeface="Arial"/>
              </a:rPr>
              <a:t>GPT-4o at the insurer (AI/ML API); Llama 3.1 at the specialists (Featherless).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2168" y="2697480"/>
            <a:ext cx="3602736" cy="2286000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94776" y="2990088"/>
            <a:ext cx="779068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E8B54A"/>
                </a:solidFill>
                <a:latin typeface="Arial"/>
              </a:rP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34472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2F3F6"/>
                </a:solidFill>
                <a:latin typeface="Arial"/>
              </a:rPr>
              <a:t>Band is the truth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3941064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B7BBC6"/>
                </a:solidFill>
                <a:latin typeface="Arial"/>
              </a:rPr>
              <a:t>Messages, task state, and a tamper-evident audit trail live in Band, not any one agent.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6272784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666B78"/>
                </a:solidFill>
                <a:latin typeface="Arial"/>
              </a:rPr>
              <a:t>powered by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Band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AI/ML API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Featherless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4983" y="347472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2F3F6"/>
                </a:solidFill>
                <a:latin typeface="Arial"/>
              </a:rPr>
              <a:t>Claim</a:t>
            </a:r>
            <a:r>
              <a:rPr sz="1600" b="1" i="0">
                <a:solidFill>
                  <a:srgbClr val="E8B54A"/>
                </a:solidFill>
                <a:latin typeface="Arial"/>
              </a:rPr>
              <a:t>Arbiter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40">
                <a:solidFill>
                  <a:srgbClr val="E8B54A"/>
                </a:solidFill>
                <a:latin typeface="Arial"/>
              </a:rPr>
              <a:t>BUSINESS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2F3F6"/>
                </a:solidFill>
                <a:latin typeface="Arial"/>
              </a:rPr>
              <a:t>A large, measurable market.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97480"/>
            <a:ext cx="3602736" cy="2286000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5528" y="2990088"/>
            <a:ext cx="526694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E8B54A"/>
                </a:solidFill>
                <a:latin typeface="Arial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4472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2F3F6"/>
                </a:solidFill>
                <a:latin typeface="Arial"/>
              </a:rPr>
              <a:t>Claims operations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8862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B7BBC6"/>
                </a:solidFill>
                <a:latin typeface="Arial"/>
              </a:rPr>
              <a:t>Loss-adjustment expense runs an estimated 10 to 12 percent of global P&amp;C premiums, a multi-hundred-billion-dollar annual pool.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697480"/>
            <a:ext cx="3602736" cy="2286000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45152" y="2990088"/>
            <a:ext cx="526694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E8B54A"/>
                </a:solidFill>
                <a:latin typeface="Arial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4472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2F3F6"/>
                </a:solidFill>
                <a:latin typeface="Arial"/>
              </a:rPr>
              <a:t>Digital-first carriers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8862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B7BBC6"/>
                </a:solidFill>
                <a:latin typeface="Arial"/>
              </a:rPr>
              <a:t>P&amp;C and health insurers and InsurTechs adopting agentic automation, an estimated multi-billion-dollar serviceable slice.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2168" y="2697480"/>
            <a:ext cx="3602736" cy="2286000"/>
          </a:xfrm>
          <a:prstGeom prst="roundRect">
            <a:avLst>
              <a:gd name="adj" fmla="val 6000"/>
            </a:avLst>
          </a:prstGeom>
          <a:solidFill>
            <a:srgbClr val="151822"/>
          </a:solidFill>
          <a:ln w="12700">
            <a:solidFill>
              <a:srgbClr val="2B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94776" y="2990088"/>
            <a:ext cx="694944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i="0" spc="120">
                <a:solidFill>
                  <a:srgbClr val="E8B54A"/>
                </a:solidFill>
                <a:latin typeface="Arial"/>
              </a:rPr>
              <a:t>WEDGE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34472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2F3F6"/>
                </a:solidFill>
                <a:latin typeface="Arial"/>
              </a:rPr>
              <a:t>Cross-org adjudication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38862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B7BBC6"/>
                </a:solidFill>
                <a:latin typeface="Arial"/>
              </a:rPr>
              <a:t>Claims that need an outside specialist: the slow, manual, high-value handoffs ClaimArbiter automates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3036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B909C"/>
                </a:solidFill>
                <a:latin typeface="Arial"/>
              </a:rPr>
              <a:t>Revenue:  </a:t>
            </a:r>
            <a:r>
              <a:rPr sz="1400" b="1" i="0">
                <a:solidFill>
                  <a:srgbClr val="F2F3F6"/>
                </a:solidFill>
                <a:latin typeface="Arial"/>
              </a:rPr>
              <a:t>Platform subscription</a:t>
            </a:r>
            <a:r>
              <a:rPr sz="140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400" b="1" i="0">
                <a:solidFill>
                  <a:srgbClr val="F2F3F6"/>
                </a:solidFill>
                <a:latin typeface="Arial"/>
              </a:rPr>
              <a:t>Usage pricing</a:t>
            </a:r>
            <a:r>
              <a:rPr sz="140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400" b="1" i="0">
                <a:solidFill>
                  <a:srgbClr val="F2F3F6"/>
                </a:solidFill>
                <a:latin typeface="Arial"/>
              </a:rPr>
              <a:t>Recruiting take-rate</a:t>
            </a:r>
            <a:r>
              <a:rPr sz="140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400" b="1" i="0">
                <a:solidFill>
                  <a:srgbClr val="F2F3F6"/>
                </a:solidFill>
                <a:latin typeface="Arial"/>
              </a:rPr>
              <a:t>Compliance add-on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6272784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666B78"/>
                </a:solidFill>
                <a:latin typeface="Arial"/>
              </a:rPr>
              <a:t>powered by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Band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AI/ML API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Featherless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4983" y="347472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2F3F6"/>
                </a:solidFill>
                <a:latin typeface="Arial"/>
              </a:rPr>
              <a:t>Claim</a:t>
            </a:r>
            <a:r>
              <a:rPr sz="1600" b="1" i="0">
                <a:solidFill>
                  <a:srgbClr val="E8B54A"/>
                </a:solidFill>
                <a:latin typeface="Arial"/>
              </a:rPr>
              <a:t>Arbiter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88920"/>
            <a:ext cx="10451592" cy="1280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E8B54A"/>
                </a:solidFill>
                <a:latin typeface="Arial"/>
              </a:rPr>
              <a:t>Now let's see it run.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3767328" y="3264408"/>
            <a:ext cx="292608" cy="310896"/>
          </a:xfrm>
          <a:prstGeom prst="triangle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0" y="6272784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666B78"/>
                </a:solidFill>
                <a:latin typeface="Arial"/>
              </a:rPr>
              <a:t>powered by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Band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AI/ML API</a:t>
            </a:r>
            <a:r>
              <a:rPr sz="1250" b="0" i="0">
                <a:solidFill>
                  <a:srgbClr val="E8B54A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F2F3F6"/>
                </a:solidFill>
                <a:latin typeface="Arial"/>
              </a:rPr>
              <a:t>Featherless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424</Words>
  <Application>Microsoft Macintosh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Sahil Sharma</cp:lastModifiedBy>
  <cp:revision>3</cp:revision>
  <dcterms:created xsi:type="dcterms:W3CDTF">2013-01-27T09:14:16Z</dcterms:created>
  <dcterms:modified xsi:type="dcterms:W3CDTF">2026-06-18T12:36:40Z</dcterms:modified>
  <cp:category/>
</cp:coreProperties>
</file>